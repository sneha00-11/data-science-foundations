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0A5755E-764D-3A17-B116-54C4B55740F9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398569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95" imgH="394" progId="TCLayout.ActiveDocument.1">
                  <p:embed/>
                </p:oleObj>
              </mc:Choice>
              <mc:Fallback>
                <p:oleObj name="think-cell Slide" r:id="rId14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EB56831-6CB3-227A-CEF0-F6A5BCE0F97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04268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rIns="91440">
            <a:normAutofit fontScale="90000"/>
          </a:bodyPr>
          <a:lstStyle/>
          <a:p>
            <a:r>
              <a:t>Facebook Marketplace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of Facebook Live Sellers dataset focusing on engagement, correlation, posting time, and clustering insights.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Total Posts: 7050</a:t>
            </a:r>
          </a:p>
          <a:p>
            <a:pPr marL="0" indent="0">
              <a:buNone/>
            </a:pPr>
            <a:r>
              <a:rPr dirty="0"/>
              <a:t>Post Types:</a:t>
            </a:r>
          </a:p>
          <a:p>
            <a:r>
              <a:rPr dirty="0"/>
              <a:t>photo: 4288</a:t>
            </a:r>
            <a:r>
              <a:rPr lang="en-US" dirty="0"/>
              <a:t>                   </a:t>
            </a:r>
            <a:endParaRPr dirty="0"/>
          </a:p>
          <a:p>
            <a:r>
              <a:rPr dirty="0"/>
              <a:t>video: 2334</a:t>
            </a:r>
          </a:p>
          <a:p>
            <a:r>
              <a:rPr dirty="0"/>
              <a:t>status: 365</a:t>
            </a:r>
          </a:p>
          <a:p>
            <a:r>
              <a:rPr dirty="0"/>
              <a:t>link: 63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2DAF79-70F1-186F-C239-689FFDB93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940" y="1711552"/>
            <a:ext cx="4890860" cy="40685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Average Engagement by Post Type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4CA91A7-6FAD-E229-4892-B68DF404B9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125299"/>
              </p:ext>
            </p:extLst>
          </p:nvPr>
        </p:nvGraphicFramePr>
        <p:xfrm>
          <a:off x="457199" y="1600198"/>
          <a:ext cx="8436428" cy="3429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107">
                  <a:extLst>
                    <a:ext uri="{9D8B030D-6E8A-4147-A177-3AD203B41FA5}">
                      <a16:colId xmlns:a16="http://schemas.microsoft.com/office/drawing/2014/main" val="676424239"/>
                    </a:ext>
                  </a:extLst>
                </a:gridCol>
                <a:gridCol w="2109107">
                  <a:extLst>
                    <a:ext uri="{9D8B030D-6E8A-4147-A177-3AD203B41FA5}">
                      <a16:colId xmlns:a16="http://schemas.microsoft.com/office/drawing/2014/main" val="1722050617"/>
                    </a:ext>
                  </a:extLst>
                </a:gridCol>
                <a:gridCol w="2109107">
                  <a:extLst>
                    <a:ext uri="{9D8B030D-6E8A-4147-A177-3AD203B41FA5}">
                      <a16:colId xmlns:a16="http://schemas.microsoft.com/office/drawing/2014/main" val="3152927940"/>
                    </a:ext>
                  </a:extLst>
                </a:gridCol>
                <a:gridCol w="2109107">
                  <a:extLst>
                    <a:ext uri="{9D8B030D-6E8A-4147-A177-3AD203B41FA5}">
                      <a16:colId xmlns:a16="http://schemas.microsoft.com/office/drawing/2014/main" val="861278400"/>
                    </a:ext>
                  </a:extLst>
                </a:gridCol>
              </a:tblGrid>
              <a:tr h="113578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Number </a:t>
                      </a:r>
                      <a:r>
                        <a:rPr lang="en-IN"/>
                        <a:t>of Reactions(Avg values)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Number of Comments(</a:t>
                      </a:r>
                      <a:r>
                        <a:rPr lang="en-IN" dirty="0" err="1"/>
                        <a:t>Avg</a:t>
                      </a:r>
                      <a:r>
                        <a:rPr lang="en-IN" dirty="0"/>
                        <a:t> values)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Number of Shares(</a:t>
                      </a:r>
                      <a:r>
                        <a:rPr lang="en-IN" dirty="0" err="1"/>
                        <a:t>Avg</a:t>
                      </a:r>
                      <a:r>
                        <a:rPr lang="en-IN" dirty="0"/>
                        <a:t> values)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0289"/>
                  </a:ext>
                </a:extLst>
              </a:tr>
              <a:tr h="573303">
                <a:tc>
                  <a:txBody>
                    <a:bodyPr/>
                    <a:lstStyle/>
                    <a:p>
                      <a:r>
                        <a:rPr lang="en-IN" dirty="0"/>
                        <a:t>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283.409597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642.478149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115.679949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026498"/>
                  </a:ext>
                </a:extLst>
              </a:tr>
              <a:tr h="573303">
                <a:tc>
                  <a:txBody>
                    <a:bodyPr/>
                    <a:lstStyle/>
                    <a:p>
                      <a:r>
                        <a:rPr lang="en-IN" dirty="0"/>
                        <a:t>Photo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181.290345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15.993470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2.553871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2628218"/>
                  </a:ext>
                </a:extLst>
              </a:tr>
              <a:tr h="573303">
                <a:tc>
                  <a:txBody>
                    <a:bodyPr/>
                    <a:lstStyle/>
                    <a:p>
                      <a:r>
                        <a:rPr lang="en-IN" dirty="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438.783562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36.238356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2.558904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207957"/>
                  </a:ext>
                </a:extLst>
              </a:tr>
              <a:tr h="573303">
                <a:tc>
                  <a:txBody>
                    <a:bodyPr/>
                    <a:lstStyle/>
                    <a:p>
                      <a:r>
                        <a:rPr lang="en-IN" dirty="0"/>
                        <a:t>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370.142857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5.698413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4.396825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42717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C8FEAC5-0569-1580-770F-19A2468B26A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76456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US" dirty="0"/>
              <a:t>.</a:t>
            </a:r>
            <a:endParaRPr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A7D1453-381B-DF4A-9E9C-A159C2D726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457201" y="380999"/>
            <a:ext cx="8229600" cy="61177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Best Time to Post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User activity is highest during early morning and late evening hours, while engagement drops during the afternoon.</a:t>
            </a:r>
          </a:p>
          <a:p>
            <a:r>
              <a:rPr lang="en-US" dirty="0"/>
              <a:t>Sellers should strategically schedule posts during these peak periods to maximize visibility and interaction.</a:t>
            </a:r>
          </a:p>
          <a:p>
            <a:r>
              <a:rPr lang="en-US" dirty="0"/>
              <a:t>Posting during low-engagement hours may result in reduced reach and lower overall performance.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19BF3C4-700D-8C86-B230-DAD8B867B0D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024977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F66FCB7-8159-D41B-29C0-553731615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>
            <a:normAutofit fontScale="90000"/>
          </a:bodyPr>
          <a:lstStyle/>
          <a:p>
            <a:r>
              <a:rPr lang="en-IN" dirty="0"/>
              <a:t>Interpretation from K-means method: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BF5D5-266B-39B5-88DB-40E9DE5BD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417638"/>
            <a:ext cx="8599715" cy="574516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Cluster 0 represents posts with [low/moderate] reactions, comments, and shares, indicating low engagement posts. From the status type analysis, this cluster mainly consists of [photos/status] posts.</a:t>
            </a:r>
          </a:p>
          <a:p>
            <a:r>
              <a:rPr lang="en-US" dirty="0"/>
              <a:t>Cluster 1 shows [higher] values of comments and shares, indicating high interaction posts. These posts are primarily [videos/photos], suggesting that such content encourages user engagement.</a:t>
            </a:r>
          </a:p>
          <a:p>
            <a:r>
              <a:rPr lang="en-US" dirty="0"/>
              <a:t>Cluster 2 has the highest reactions, representing viral posts. The status type distribution shows that this cluster is dominated by [videos], indicating that video content tends to generate maximum engagement.</a:t>
            </a:r>
          </a:p>
          <a:p>
            <a:r>
              <a:rPr lang="en-US" dirty="0"/>
              <a:t>Overall, the results indicate that both engagement metrics and post type significantly influence the performance of posts, with video content generally leading to higher engagement.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5270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Reactions strongly correlate with comments and shares.</a:t>
            </a:r>
          </a:p>
          <a:p>
            <a:r>
              <a:rPr dirty="0"/>
              <a:t>Some post types receive significantly higher engagement.</a:t>
            </a:r>
          </a:p>
          <a:p>
            <a:r>
              <a:rPr dirty="0"/>
              <a:t> Posting time impacts audience interaction levels.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Focus on high-performing post types.</a:t>
            </a:r>
          </a:p>
          <a:p>
            <a:r>
              <a:rPr dirty="0"/>
              <a:t> Post during peak engagement hours.</a:t>
            </a:r>
          </a:p>
          <a:p>
            <a:r>
              <a:rPr dirty="0"/>
              <a:t> Encourage interaction to boost visibility.</a:t>
            </a:r>
          </a:p>
          <a:p>
            <a:r>
              <a:rPr dirty="0"/>
              <a:t> Use clustering insights to segment post strategies.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339</Words>
  <Application>Microsoft Office PowerPoint</Application>
  <PresentationFormat>On-screen Show (4:3)</PresentationFormat>
  <Paragraphs>49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Office Theme</vt:lpstr>
      <vt:lpstr>think-cell Slide</vt:lpstr>
      <vt:lpstr>Facebook Marketplace Data Analysis</vt:lpstr>
      <vt:lpstr>Dataset Overview</vt:lpstr>
      <vt:lpstr>Average Engagement by Post Type</vt:lpstr>
      <vt:lpstr>.</vt:lpstr>
      <vt:lpstr>Best Time to Post</vt:lpstr>
      <vt:lpstr>Interpretation from K-means method:</vt:lpstr>
      <vt:lpstr>Key Insights</vt:lpstr>
      <vt:lpstr>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Sneha_03</dc:creator>
  <cp:keywords/>
  <dc:description>generated using python-pptx</dc:description>
  <cp:lastModifiedBy>Sneha vishwa</cp:lastModifiedBy>
  <cp:revision>2</cp:revision>
  <dcterms:created xsi:type="dcterms:W3CDTF">2013-01-27T09:14:16Z</dcterms:created>
  <dcterms:modified xsi:type="dcterms:W3CDTF">2026-04-22T12:30:23Z</dcterms:modified>
  <cp:category/>
</cp:coreProperties>
</file>